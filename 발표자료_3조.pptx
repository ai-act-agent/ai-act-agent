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/>
    <p:restoredTop sz="94658"/>
  </p:normalViewPr>
  <p:slideViewPr>
    <p:cSldViewPr snapToGrid="0">
      <p:cViewPr varScale="1">
        <p:scale>
          <a:sx n="83" d="100"/>
          <a:sy n="83" d="100"/>
        </p:scale>
        <p:origin x="21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CD770B-32A4-1347-8A76-57F88350BAE2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1B54E-311B-814C-974C-B7D4F8323A7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16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1474D-8FF7-5443-33B4-8DD8F0E55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CBD159-925C-39AE-49F8-92C187310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B2A8D0-77EB-E395-0F53-BDED8AF3E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5A63C-2857-2D9A-420C-E7BF5E9F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D85DC4-1016-2AE3-B85F-8AD589A7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0016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9B496-2B3C-E284-670C-63B8C2E9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B15C7E-94AA-6557-DE2F-BF6444729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7B5343-4DAE-CD22-753E-8453856C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350EC7-BF6B-A5DE-0C02-43D2EAFE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5836C9-CD67-3ACD-CCD5-94322569D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923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836FF-EC91-421F-711D-6AA3BBE4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0B89FB-8381-D5A8-2BBC-4CB9FD8AD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DF7CB3-C19D-7D0D-346D-6176CEF2C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379ADC-F153-D721-87D8-2EADF7AC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12979E-2E06-4177-DA8D-D6EEAF76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1467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0D8DA-4BD5-0699-F9BB-84B25898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A5EDE-8C55-D690-0876-ED677949A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38B88F-DCD9-6640-DB4F-5825655E4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00B0D-CF67-2D04-FB7C-C652531C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C96069-0EE3-F17B-5F70-86F53B03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CD6BA4-AD87-5107-FB46-466BA0F9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41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DA86C-0396-BF33-699C-D07A8141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84EE4B-A707-0529-B630-0042466AE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30D4BD-D456-E969-FE9C-7FE988F2F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C908A3-F1DB-E103-531A-CB6353D51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FB06B6-CA88-168F-7C44-6AE807E48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AFAC06A-F986-DB3B-44C3-6EE747B6A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255606B-1F6A-5801-401F-905116CA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215F3B-42F5-1C1A-0F13-A55E2971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476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4DCA6-9D42-6FF4-135D-C4E990C0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DA3C26-073E-0AE1-3711-A3EA8BBA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23B618-EAAA-CC8B-A5EC-D5AAA3FC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C50CA5-DEEE-30D3-D36F-0E28B4D0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22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11CC706-0D4A-721A-C1E4-BBEA97FE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DDE709-A3BE-D9B4-A30D-FA885A3C4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FEBEB-92AA-C3FE-5595-C65716B3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4559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D4849-99D0-9F4B-1F1C-FAADE9A4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0F9450-1E80-06A1-E4CD-923D2C307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3572F-0D99-B1D5-A634-F01F41BF6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BAF912-4E8D-E121-552F-A5F0657EF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8C58C4-8248-BD81-D9A1-24D5AFF40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5FBA86-C71B-2F6A-91F1-F030D89B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743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25B92-2A64-AE3C-C240-EE73D197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3DB350-399C-C924-A833-5A2A7ED0C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8C8712-4747-7BC7-138E-3438B2422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C8B016-3AB6-B521-5471-05034ECE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8F5FB-87F4-35E7-EC63-57EB08BC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DF2546-DC75-C071-0663-E971382E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669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882B0-A3E5-D357-2D96-593B45BB4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C856B-7FDD-8D60-5E5C-02B7FE212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977B58-90B8-55E5-6A48-6536725D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5AC201-1CA9-CF6A-A6CD-DF82A34D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97D25B-35AC-4F2A-497C-43BD5A3B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64275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ED8C6C-60C0-DDCA-5BE3-241C748F73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58E6E8-F7D6-7352-D65F-BC97EA788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A47087-10ED-A47B-8A65-967FCB44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3D2266-0125-5E3F-027F-3061F6CF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A1653-2A0A-2541-67E3-19DFDFF6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2378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8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4CFE6F-F490-CC37-B780-09B665418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EBE1A0-44DC-4B95-1C47-AA538E992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563E83-FC38-18B8-A0B9-99EDDEB5B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75E13-B60A-2442-A44B-561654BF88D5}" type="datetimeFigureOut">
              <a:rPr kumimoji="1" lang="ko-KR" altLang="en-US" smtClean="0"/>
              <a:t>2026. 7. 23.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C6E75C-CD1D-1D41-4EAF-63488338B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3AB307-3303-DA5F-AC6A-AF19155C2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75CDD-6D4D-4E41-92B0-988B44099BB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784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1" name="그림 10" descr="프로의디테일]#8. 법조문 대표기호, Section Sign 워드에서 손쉽게 입력하기 : 네이버 블로그">
            <a:extLst>
              <a:ext uri="{FF2B5EF4-FFF2-40B4-BE49-F238E27FC236}">
                <a16:creationId xmlns:a16="http://schemas.microsoft.com/office/drawing/2014/main" id="{27617681-973A-6D20-6B16-64A704B90B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7000"/>
          </a:blip>
          <a:stretch/>
        </p:blipFill>
        <p:spPr>
          <a:xfrm>
            <a:off x="8347132" y="-36078"/>
            <a:ext cx="3661448" cy="6894079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609601" y="5190479"/>
            <a:ext cx="70713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dirty="0" err="1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법대로하조</a:t>
            </a:r>
            <a:r>
              <a:rPr lang="en-US" altLang="ko-KR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</a:t>
            </a:r>
            <a:r>
              <a:rPr lang="ko-KR" altLang="en-US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박상훈</a:t>
            </a:r>
            <a:r>
              <a:rPr lang="en-US" altLang="ko-KR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이병우</a:t>
            </a:r>
            <a:r>
              <a:rPr lang="en-US" altLang="ko-KR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 err="1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탁혜원</a:t>
            </a:r>
            <a:r>
              <a:rPr lang="en-US" altLang="ko-KR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김지원</a:t>
            </a:r>
            <a:r>
              <a:rPr lang="en-US" altLang="ko-KR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김서연</a:t>
            </a:r>
            <a:endParaRPr lang="en-US" altLang="ko-KR" sz="1400" dirty="0">
              <a:solidFill>
                <a:srgbClr val="00359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" y="1828800"/>
            <a:ext cx="707136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ko-KR" altLang="en-US" sz="8000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조문조문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62271" y="1316736"/>
            <a:ext cx="707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867" b="1" dirty="0">
                <a:solidFill>
                  <a:srgbClr val="1A4D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867" b="1" dirty="0" err="1">
                <a:solidFill>
                  <a:srgbClr val="1A4D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</a:t>
            </a:r>
            <a:r>
              <a:rPr lang="ko-KR" altLang="en-US" sz="1867" b="1" dirty="0">
                <a:solidFill>
                  <a:srgbClr val="1A4D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67" b="1" dirty="0">
                <a:solidFill>
                  <a:srgbClr val="1A4D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AI’</a:t>
            </a:r>
            <a:r>
              <a:rPr lang="ko-KR" altLang="en-US" sz="1867" b="1" dirty="0">
                <a:solidFill>
                  <a:srgbClr val="1A4D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 </a:t>
            </a:r>
            <a:r>
              <a:rPr lang="en-US" altLang="ko-KR" sz="1867" b="1" dirty="0">
                <a:solidFill>
                  <a:srgbClr val="1A4D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867" b="1" dirty="0"/>
          </a:p>
        </p:txBody>
      </p:sp>
      <p:sp>
        <p:nvSpPr>
          <p:cNvPr id="9" name="Shape 7"/>
          <p:cNvSpPr/>
          <p:nvPr/>
        </p:nvSpPr>
        <p:spPr>
          <a:xfrm>
            <a:off x="670560" y="5059680"/>
            <a:ext cx="4267200" cy="30480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8158408" y="2623920"/>
            <a:ext cx="414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8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 준수 체크 </a:t>
            </a:r>
            <a:endParaRPr lang="en-US" altLang="ko-KR" sz="1867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algn="ctr">
              <a:lnSpc>
                <a:spcPct val="140000"/>
              </a:lnSpc>
            </a:pPr>
            <a:r>
              <a:rPr lang="ko-KR" altLang="en-US" sz="18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기반 </a:t>
            </a:r>
            <a:r>
              <a:rPr lang="en-US" sz="18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</a:t>
            </a:r>
            <a:r>
              <a:rPr lang="ko-KR" altLang="en-US" sz="18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8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60960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280160"/>
            <a:ext cx="3511296" cy="420624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438656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267" dirty="0"/>
          </a:p>
        </p:txBody>
      </p:sp>
      <p:sp>
        <p:nvSpPr>
          <p:cNvPr id="5" name="Text 3"/>
          <p:cNvSpPr/>
          <p:nvPr/>
        </p:nvSpPr>
        <p:spPr>
          <a:xfrm>
            <a:off x="755904" y="2279904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AI기본법 시행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1706880" y="2840736"/>
            <a:ext cx="1316736" cy="30480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Text 5"/>
          <p:cNvSpPr/>
          <p:nvPr/>
        </p:nvSpPr>
        <p:spPr>
          <a:xfrm>
            <a:off x="792480" y="2987040"/>
            <a:ext cx="3145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67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1월 22일 전면 시행.</a:t>
            </a:r>
            <a:endParaRPr lang="en-US" sz="1467" b="1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계도기간 중인 지금, 실무 현장의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혼란이 실제로 보도되고 있다.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4364736" y="1280160"/>
            <a:ext cx="3511296" cy="420624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4364736" y="1438656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267" dirty="0"/>
          </a:p>
        </p:txBody>
      </p:sp>
      <p:sp>
        <p:nvSpPr>
          <p:cNvPr id="10" name="Text 8"/>
          <p:cNvSpPr/>
          <p:nvPr/>
        </p:nvSpPr>
        <p:spPr>
          <a:xfrm>
            <a:off x="4511040" y="2279904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 판단의 어려움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5462016" y="2840736"/>
            <a:ext cx="1316736" cy="30480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4547616" y="2987040"/>
            <a:ext cx="3145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서비스가 고영향 AI인지,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의무가 있는지"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판단하기 어렵다.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8119872" y="1280160"/>
            <a:ext cx="3511296" cy="420624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8119872" y="1438656"/>
            <a:ext cx="3511296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267" dirty="0"/>
          </a:p>
        </p:txBody>
      </p:sp>
      <p:sp>
        <p:nvSpPr>
          <p:cNvPr id="15" name="Text 13"/>
          <p:cNvSpPr/>
          <p:nvPr/>
        </p:nvSpPr>
        <p:spPr>
          <a:xfrm>
            <a:off x="8266176" y="2279904"/>
            <a:ext cx="3218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창구의 한계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9217152" y="2840736"/>
            <a:ext cx="1316736" cy="30480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/>
          <p:nvPr/>
        </p:nvSpPr>
        <p:spPr>
          <a:xfrm>
            <a:off x="8302752" y="2987040"/>
            <a:ext cx="3145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상담 창구는 존재하나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→ 배정 → 심층검토의 절차로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21일이 소요될 수 있다.</a:t>
            </a:r>
            <a:endParaRPr lang="en-US" sz="1467" b="1" dirty="0"/>
          </a:p>
        </p:txBody>
      </p:sp>
      <p:sp>
        <p:nvSpPr>
          <p:cNvPr id="18" name="Shape 16"/>
          <p:cNvSpPr/>
          <p:nvPr/>
        </p:nvSpPr>
        <p:spPr>
          <a:xfrm>
            <a:off x="609600" y="5632704"/>
            <a:ext cx="10972800" cy="829056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609600" y="5632704"/>
            <a:ext cx="109728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법령 조문만을 근거로, 우리 서비스의 의무를 조문 근거와 함께 즉시 알려주는 문서 기반 QA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60960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소개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609600" y="1280160"/>
            <a:ext cx="5242560" cy="158496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Text 2"/>
          <p:cNvSpPr/>
          <p:nvPr/>
        </p:nvSpPr>
        <p:spPr>
          <a:xfrm>
            <a:off x="829056" y="1402080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대상자</a:t>
            </a:r>
            <a:endParaRPr lang="en-US" sz="1733" dirty="0"/>
          </a:p>
        </p:txBody>
      </p:sp>
      <p:sp>
        <p:nvSpPr>
          <p:cNvPr id="5" name="Text 3"/>
          <p:cNvSpPr/>
          <p:nvPr/>
        </p:nvSpPr>
        <p:spPr>
          <a:xfrm>
            <a:off x="829056" y="18897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기획자, 스타트업 대표 등</a:t>
            </a:r>
            <a:endParaRPr lang="en-US" sz="1467" dirty="0"/>
          </a:p>
          <a:p>
            <a:pPr>
              <a:lnSpc>
                <a:spcPct val="145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개발사업자 </a:t>
            </a:r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</a:t>
            </a: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이용사업</a:t>
            </a:r>
            <a:r>
              <a:rPr lang="ko-KR" alt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609600" y="3200401"/>
            <a:ext cx="5242560" cy="1813559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Text 5"/>
          <p:cNvSpPr/>
          <p:nvPr/>
        </p:nvSpPr>
        <p:spPr>
          <a:xfrm>
            <a:off x="829056" y="3322321"/>
            <a:ext cx="47548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데이터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829056" y="389026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인공지능기본법 (AI기본법)</a:t>
            </a:r>
            <a:endParaRPr lang="en-US" sz="1467" dirty="0"/>
          </a:p>
          <a:p>
            <a:pPr>
              <a:lnSpc>
                <a:spcPct val="145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시행령</a:t>
            </a:r>
            <a:endParaRPr lang="en-US" sz="1467" dirty="0"/>
          </a:p>
          <a:p>
            <a:pPr>
              <a:lnSpc>
                <a:spcPct val="145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과기정통부 질의응답 사례집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6096000" y="1280160"/>
            <a:ext cx="5486400" cy="158496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"/>
          <p:cNvSpPr/>
          <p:nvPr/>
        </p:nvSpPr>
        <p:spPr>
          <a:xfrm>
            <a:off x="6315456" y="1428495"/>
            <a:ext cx="4998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6315456" y="2000507"/>
            <a:ext cx="499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설명 → 적용 대상 분류 · 고영향 AI 가능성 · </a:t>
            </a:r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의무를</a:t>
            </a: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조문 근거와 함께 사전 검토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609600" y="5509768"/>
            <a:ext cx="10972800" cy="877824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36520" y="5509768"/>
            <a:ext cx="6431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의무가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생깁니다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ko-KR" alt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모릅니다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3200401"/>
            <a:ext cx="5486400" cy="1813559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/>
          <p:nvPr/>
        </p:nvSpPr>
        <p:spPr>
          <a:xfrm>
            <a:off x="6315456" y="3311145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 ·  결과물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6315456" y="3737864"/>
            <a:ext cx="49987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검토 시간 단축  ·  법 지식 접근성 증대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기획 단계 법적 검토 가능</a:t>
            </a:r>
            <a:endParaRPr lang="en-US" sz="1467" dirty="0"/>
          </a:p>
          <a:p>
            <a:pPr>
              <a:lnSpc>
                <a:spcPct val="15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대화 기반 내부 법무 검토용 PDF 리포트(초안) 자동 생성</a:t>
            </a:r>
            <a:endParaRPr lang="en-US" sz="14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144"/>
            <a:ext cx="10972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시나리오와 핵심 기능</a:t>
            </a:r>
            <a:endParaRPr lang="en-US" sz="3467" dirty="0"/>
          </a:p>
        </p:txBody>
      </p:sp>
      <p:sp>
        <p:nvSpPr>
          <p:cNvPr id="3" name="Shape 1"/>
          <p:cNvSpPr/>
          <p:nvPr/>
        </p:nvSpPr>
        <p:spPr>
          <a:xfrm>
            <a:off x="804672" y="1280160"/>
            <a:ext cx="1402080" cy="1402080"/>
          </a:xfrm>
          <a:prstGeom prst="ellipse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Text 2"/>
          <p:cNvSpPr/>
          <p:nvPr/>
        </p:nvSpPr>
        <p:spPr>
          <a:xfrm>
            <a:off x="804672" y="1280160"/>
            <a:ext cx="14020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2279904" y="1743456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D0DC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633984" y="2804160"/>
            <a:ext cx="1743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입력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85216" y="3364992"/>
            <a:ext cx="1828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AI 서비스를</a:t>
            </a:r>
            <a:endParaRPr lang="en-US" sz="1267" dirty="0"/>
          </a:p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자유롭게 설명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3072384" y="1280160"/>
            <a:ext cx="1402080" cy="1402080"/>
          </a:xfrm>
          <a:prstGeom prst="ellipse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3072384" y="1280160"/>
            <a:ext cx="14020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67" dirty="0"/>
          </a:p>
        </p:txBody>
      </p:sp>
      <p:sp>
        <p:nvSpPr>
          <p:cNvPr id="10" name="Text 8"/>
          <p:cNvSpPr/>
          <p:nvPr/>
        </p:nvSpPr>
        <p:spPr>
          <a:xfrm>
            <a:off x="4547616" y="1743456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D0DC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2901696" y="2804160"/>
            <a:ext cx="1743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분류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2852928" y="3364992"/>
            <a:ext cx="1828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대상 여부</a:t>
            </a:r>
            <a:endParaRPr lang="en-US" sz="1267" dirty="0"/>
          </a:p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분석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5340096" y="1280160"/>
            <a:ext cx="1402080" cy="1402080"/>
          </a:xfrm>
          <a:prstGeom prst="ellipse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12"/>
          <p:cNvSpPr/>
          <p:nvPr/>
        </p:nvSpPr>
        <p:spPr>
          <a:xfrm>
            <a:off x="5340096" y="1280160"/>
            <a:ext cx="14020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67" dirty="0"/>
          </a:p>
        </p:txBody>
      </p:sp>
      <p:sp>
        <p:nvSpPr>
          <p:cNvPr id="15" name="Text 13"/>
          <p:cNvSpPr/>
          <p:nvPr/>
        </p:nvSpPr>
        <p:spPr>
          <a:xfrm>
            <a:off x="6815328" y="1743456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D0DC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5169408" y="2804160"/>
            <a:ext cx="1743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 검토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120640" y="3364992"/>
            <a:ext cx="1828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필터링 메커니즘으로</a:t>
            </a:r>
            <a:endParaRPr lang="en-US" sz="1267" dirty="0"/>
          </a:p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가능성 판별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7607808" y="1280160"/>
            <a:ext cx="1402080" cy="1402080"/>
          </a:xfrm>
          <a:prstGeom prst="ellipse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7607808" y="1280160"/>
            <a:ext cx="14020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67" dirty="0"/>
          </a:p>
        </p:txBody>
      </p:sp>
      <p:sp>
        <p:nvSpPr>
          <p:cNvPr id="20" name="Text 18"/>
          <p:cNvSpPr/>
          <p:nvPr/>
        </p:nvSpPr>
        <p:spPr>
          <a:xfrm>
            <a:off x="9083040" y="1743456"/>
            <a:ext cx="426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D0DC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7437120" y="2804160"/>
            <a:ext cx="1743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+ 조문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7388352" y="3364992"/>
            <a:ext cx="1828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의무와</a:t>
            </a:r>
            <a:endParaRPr lang="en-US" sz="1267" dirty="0"/>
          </a:p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조문 제공</a:t>
            </a:r>
            <a:endParaRPr lang="en-US" sz="1267" dirty="0"/>
          </a:p>
        </p:txBody>
      </p:sp>
      <p:sp>
        <p:nvSpPr>
          <p:cNvPr id="23" name="Shape 21"/>
          <p:cNvSpPr/>
          <p:nvPr/>
        </p:nvSpPr>
        <p:spPr>
          <a:xfrm>
            <a:off x="9875520" y="1280160"/>
            <a:ext cx="1402080" cy="1402080"/>
          </a:xfrm>
          <a:prstGeom prst="ellipse">
            <a:avLst/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9875520" y="1280160"/>
            <a:ext cx="140208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67" dirty="0"/>
          </a:p>
        </p:txBody>
      </p:sp>
      <p:sp>
        <p:nvSpPr>
          <p:cNvPr id="25" name="Text 23"/>
          <p:cNvSpPr/>
          <p:nvPr/>
        </p:nvSpPr>
        <p:spPr>
          <a:xfrm>
            <a:off x="9704832" y="2804160"/>
            <a:ext cx="1743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보류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9656064" y="3364992"/>
            <a:ext cx="1828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부족 시</a:t>
            </a:r>
            <a:endParaRPr lang="en-US" sz="1267" dirty="0"/>
          </a:p>
          <a:p>
            <a:pPr algn="ctr">
              <a:lnSpc>
                <a:spcPct val="130000"/>
              </a:lnSpc>
            </a:pPr>
            <a:r>
              <a:rPr lang="en-US" sz="1267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확인 안내</a:t>
            </a:r>
            <a:endParaRPr lang="en-US" sz="1267" dirty="0"/>
          </a:p>
        </p:txBody>
      </p:sp>
      <p:sp>
        <p:nvSpPr>
          <p:cNvPr id="27" name="Shape 25"/>
          <p:cNvSpPr/>
          <p:nvPr/>
        </p:nvSpPr>
        <p:spPr>
          <a:xfrm>
            <a:off x="609600" y="4328160"/>
            <a:ext cx="10972800" cy="3048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26"/>
          <p:cNvSpPr/>
          <p:nvPr/>
        </p:nvSpPr>
        <p:spPr>
          <a:xfrm>
            <a:off x="609600" y="4535424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 특징</a:t>
            </a:r>
            <a:endParaRPr lang="en-US" sz="1733" dirty="0"/>
          </a:p>
        </p:txBody>
      </p:sp>
      <p:sp>
        <p:nvSpPr>
          <p:cNvPr id="29" name="Shape 27"/>
          <p:cNvSpPr/>
          <p:nvPr/>
        </p:nvSpPr>
        <p:spPr>
          <a:xfrm>
            <a:off x="609600" y="5084064"/>
            <a:ext cx="243840" cy="243840"/>
          </a:xfrm>
          <a:prstGeom prst="ellipse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/>
          <p:nvPr/>
        </p:nvSpPr>
        <p:spPr>
          <a:xfrm>
            <a:off x="950976" y="5047488"/>
            <a:ext cx="33162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에이전트가 스스로 </a:t>
            </a:r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</a:t>
            </a: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계획을</a:t>
            </a: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수립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4364736" y="5084064"/>
            <a:ext cx="243840" cy="243840"/>
          </a:xfrm>
          <a:prstGeom prst="ellipse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2" name="Text 30"/>
          <p:cNvSpPr/>
          <p:nvPr/>
        </p:nvSpPr>
        <p:spPr>
          <a:xfrm>
            <a:off x="4706112" y="5047488"/>
            <a:ext cx="33162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근거가 부족하면 관련 </a:t>
            </a:r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조항을</a:t>
            </a: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재검색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8119872" y="5084064"/>
            <a:ext cx="243840" cy="243840"/>
          </a:xfrm>
          <a:prstGeom prst="ellipse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4" name="Text 32"/>
          <p:cNvSpPr/>
          <p:nvPr/>
        </p:nvSpPr>
        <p:spPr>
          <a:xfrm>
            <a:off x="8461248" y="5047488"/>
            <a:ext cx="33162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 · 재검색 · 판단 보류 </a:t>
            </a:r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sz="1467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행동 자동 선택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609600" y="5669280"/>
            <a:ext cx="10972800" cy="792480"/>
          </a:xfrm>
          <a:prstGeom prst="rect">
            <a:avLst/>
          </a:prstGeom>
          <a:solidFill>
            <a:srgbClr val="F5F8FD"/>
          </a:solidFill>
          <a:ln w="12700">
            <a:solidFill>
              <a:srgbClr val="F5F8F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6" name="Text 34"/>
          <p:cNvSpPr/>
          <p:nvPr/>
        </p:nvSpPr>
        <p:spPr>
          <a:xfrm>
            <a:off x="829056" y="5669280"/>
            <a:ext cx="10533888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필요한 조항과 조사 순서가 다르기 때문에, 에이전트가 스스로 계획을 세우고 부족한 근거는 다시 검색하여 최적의 답변을 도출합니다.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→ V4  </a:t>
            </a:r>
            <a:r>
              <a:rPr lang="en-US" sz="3200" b="1" dirty="0" err="1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r>
              <a:rPr lang="ko-KR" altLang="en-US" sz="32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</a:t>
            </a:r>
            <a:r>
              <a:rPr lang="en-US" sz="32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200" b="1" dirty="0" err="1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</a:t>
            </a:r>
            <a:r>
              <a:rPr lang="ko-KR" altLang="en-US" sz="32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2121408" y="1132577"/>
          <a:ext cx="8046720" cy="3681984"/>
        </p:xfrm>
        <a:graphic>
          <a:graphicData uri="http://schemas.openxmlformats.org/drawingml/2006/table">
            <a:tbl>
              <a:tblPr/>
              <a:tblGrid>
                <a:gridCol w="633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발견한 문제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엔지니어링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행동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5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35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내부 지식만으로 그럴듯한 답변 생성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프롬프트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질문을</a:t>
                      </a: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LLM에</a:t>
                      </a: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</a:t>
                      </a: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35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법령 근거·출처 없음, 환각 위험 존재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엔지니어링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정규화</a:t>
                      </a:r>
                      <a:r>
                        <a:rPr lang="en-US" altLang="ko-KR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 검색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35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조문과 참조 법령을 놓치는 검색 문제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</a:t>
                      </a: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엔지니어링</a:t>
                      </a: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고도화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법률</a:t>
                      </a:r>
                      <a:r>
                        <a:rPr lang="en-US" altLang="ko-KR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r>
                        <a:rPr lang="ko-KR" alt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시행령 참조 관계 확장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35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흐름으로 근거 부족에 대응 못함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</a:t>
                      </a: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루프 엔지니어링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 계획 생성, 재검색, 판단 보류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9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359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답변이 근거와 일치하는지 독립 검증 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</a:t>
                      </a: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루프 엔지니어링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주장 단위 NLI 검사, 실패 </a:t>
                      </a: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</a:t>
                      </a: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재검색·판단</a:t>
                      </a:r>
                      <a:r>
                        <a:rPr lang="en-US" sz="1200" dirty="0">
                          <a:solidFill>
                            <a:srgbClr val="1C2B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보류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9600" y="5327904"/>
            <a:ext cx="3560064" cy="115824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2"/>
          <p:cNvSpPr/>
          <p:nvPr/>
        </p:nvSpPr>
        <p:spPr>
          <a:xfrm>
            <a:off x="780288" y="540105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</a:t>
            </a:r>
            <a:endParaRPr lang="en-US" sz="1467" dirty="0"/>
          </a:p>
        </p:txBody>
      </p:sp>
      <p:sp>
        <p:nvSpPr>
          <p:cNvPr id="6" name="Text 3"/>
          <p:cNvSpPr/>
          <p:nvPr/>
        </p:nvSpPr>
        <p:spPr>
          <a:xfrm>
            <a:off x="780288" y="5852160"/>
            <a:ext cx="321868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모델에게 어떤 역할과 출력 </a:t>
            </a:r>
            <a:r>
              <a:rPr lang="en-US" sz="1333" dirty="0" err="1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</a:t>
            </a:r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sz="1333" dirty="0" err="1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</a:t>
            </a:r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것인가</a:t>
            </a:r>
            <a:endParaRPr lang="en-US" sz="1333" dirty="0"/>
          </a:p>
        </p:txBody>
      </p:sp>
      <p:sp>
        <p:nvSpPr>
          <p:cNvPr id="7" name="Shape 4"/>
          <p:cNvSpPr/>
          <p:nvPr/>
        </p:nvSpPr>
        <p:spPr>
          <a:xfrm>
            <a:off x="4364736" y="5327904"/>
            <a:ext cx="3560064" cy="115824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 5"/>
          <p:cNvSpPr/>
          <p:nvPr/>
        </p:nvSpPr>
        <p:spPr>
          <a:xfrm>
            <a:off x="4535424" y="540105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엔지니어링</a:t>
            </a:r>
            <a:endParaRPr lang="en-US" sz="1467" dirty="0"/>
          </a:p>
        </p:txBody>
      </p:sp>
      <p:sp>
        <p:nvSpPr>
          <p:cNvPr id="9" name="Text 6"/>
          <p:cNvSpPr/>
          <p:nvPr/>
        </p:nvSpPr>
        <p:spPr>
          <a:xfrm>
            <a:off x="4535424" y="5852160"/>
            <a:ext cx="321868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모델에게 어떤 근거를 어떤 </a:t>
            </a:r>
            <a:r>
              <a:rPr lang="en-US" sz="1333" dirty="0" err="1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형태로</a:t>
            </a:r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sz="1333" dirty="0" err="1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제공할</a:t>
            </a:r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것인가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8119872" y="5327904"/>
            <a:ext cx="3560064" cy="115824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8"/>
          <p:cNvSpPr/>
          <p:nvPr/>
        </p:nvSpPr>
        <p:spPr>
          <a:xfrm>
            <a:off x="8290560" y="5401056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엔지니어링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8290560" y="5852160"/>
            <a:ext cx="321868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검색·생성·검증을 어떤 조건으로 반복하고 종료할 것인가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'고영향 AI' 필터링 </a:t>
            </a:r>
            <a:r>
              <a:rPr lang="en-US" sz="3200" b="1" dirty="0" err="1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</a:t>
            </a:r>
            <a:r>
              <a:rPr lang="en-US" sz="32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9600" y="1158240"/>
            <a:ext cx="5218176" cy="262128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Shape 2"/>
          <p:cNvSpPr/>
          <p:nvPr/>
        </p:nvSpPr>
        <p:spPr>
          <a:xfrm>
            <a:off x="609600" y="1158240"/>
            <a:ext cx="5218176" cy="463296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609600" y="1158240"/>
            <a:ext cx="52181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 도메인 · </a:t>
            </a:r>
            <a:r>
              <a:rPr lang="en-US" sz="1467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792480" y="1682496"/>
            <a:ext cx="48524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 의료·채용·대출·교육·공공서비스에 관여하나요?</a:t>
            </a:r>
            <a:endParaRPr lang="en-US" sz="1467" dirty="0"/>
          </a:p>
          <a:p>
            <a:pPr>
              <a:lnSpc>
                <a:spcPct val="16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 생명·신체·기본권에 직접 영향을 주나요?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792480" y="2779776"/>
            <a:ext cx="4852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5000"/>
              </a:lnSpc>
            </a:pPr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OR Q2 = YES  →  2단계 진행</a:t>
            </a:r>
            <a:endParaRPr lang="en-US" sz="1333" dirty="0"/>
          </a:p>
          <a:p>
            <a:pPr>
              <a:lnSpc>
                <a:spcPct val="145000"/>
              </a:lnSpc>
            </a:pPr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NO  →  즉시 저영향 판정 종료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5888736" y="1950720"/>
            <a:ext cx="5364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2667" dirty="0"/>
          </a:p>
        </p:txBody>
      </p:sp>
      <p:sp>
        <p:nvSpPr>
          <p:cNvPr id="9" name="Shape 7"/>
          <p:cNvSpPr/>
          <p:nvPr/>
        </p:nvSpPr>
        <p:spPr>
          <a:xfrm>
            <a:off x="6364224" y="1158240"/>
            <a:ext cx="5218176" cy="262128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8"/>
          <p:cNvSpPr/>
          <p:nvPr/>
        </p:nvSpPr>
        <p:spPr>
          <a:xfrm>
            <a:off x="6364224" y="1158240"/>
            <a:ext cx="5218176" cy="463296"/>
          </a:xfrm>
          <a:prstGeom prst="rect">
            <a:avLst/>
          </a:prstGeom>
          <a:solidFill>
            <a:srgbClr val="1A4DA8"/>
          </a:solidFill>
          <a:ln w="12700">
            <a:solidFill>
              <a:srgbClr val="1A4DA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9"/>
          <p:cNvSpPr/>
          <p:nvPr/>
        </p:nvSpPr>
        <p:spPr>
          <a:xfrm>
            <a:off x="6364224" y="1158240"/>
            <a:ext cx="521817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 자율성 · 피해 심각도 스코어링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547104" y="1682496"/>
            <a:ext cx="48524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 사람 개입 없이 AI 혼자 최종 결정하나요?</a:t>
            </a:r>
            <a:endParaRPr lang="en-US" sz="1467" dirty="0"/>
          </a:p>
          <a:p>
            <a:pPr>
              <a:lnSpc>
                <a:spcPct val="16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 오작동 시 피해가 크고 되돌리기 어렵나요?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547104" y="2779776"/>
            <a:ext cx="48524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Q3·Q4 각각 35% 가중치  ·  비가역성 보너스 +1.5점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09600" y="3925824"/>
            <a:ext cx="10972800" cy="755904"/>
          </a:xfrm>
          <a:prstGeom prst="rect">
            <a:avLst/>
          </a:prstGeom>
          <a:solidFill>
            <a:srgbClr val="00256B"/>
          </a:solidFill>
          <a:ln w="12700">
            <a:solidFill>
              <a:srgbClr val="00256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/>
          <p:nvPr/>
        </p:nvSpPr>
        <p:spPr>
          <a:xfrm>
            <a:off x="609600" y="3925824"/>
            <a:ext cx="109728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최종점수  =  Q1 × 0.15  +  Q2 × 0.15  +  Q3 × 0.35  +  Q4 × 0.35  +  비가역 보너스</a:t>
            </a:r>
            <a:endParaRPr lang="en-US" sz="1733" dirty="0"/>
          </a:p>
        </p:txBody>
      </p:sp>
      <p:sp>
        <p:nvSpPr>
          <p:cNvPr id="16" name="Shape 14"/>
          <p:cNvSpPr/>
          <p:nvPr/>
        </p:nvSpPr>
        <p:spPr>
          <a:xfrm>
            <a:off x="609600" y="4840224"/>
            <a:ext cx="2097024" cy="1731264"/>
          </a:xfrm>
          <a:prstGeom prst="rect">
            <a:avLst/>
          </a:prstGeom>
          <a:solidFill>
            <a:srgbClr val="F5F8FD"/>
          </a:solidFill>
          <a:ln w="12700">
            <a:solidFill>
              <a:srgbClr val="F5F8F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Shape 15"/>
          <p:cNvSpPr/>
          <p:nvPr/>
        </p:nvSpPr>
        <p:spPr>
          <a:xfrm>
            <a:off x="609600" y="4840224"/>
            <a:ext cx="2097024" cy="438912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Text 16"/>
          <p:cNvSpPr/>
          <p:nvPr/>
        </p:nvSpPr>
        <p:spPr>
          <a:xfrm>
            <a:off x="609600" y="4840224"/>
            <a:ext cx="209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8.5점 이상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2752" y="5315712"/>
            <a:ext cx="195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33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</a:t>
            </a:r>
            <a:r>
              <a:rPr lang="en-US" sz="1333" b="1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</a:t>
            </a:r>
            <a:r>
              <a:rPr lang="en-US" sz="1333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sp>
        <p:nvSpPr>
          <p:cNvPr id="20" name="Text 18"/>
          <p:cNvSpPr/>
          <p:nvPr/>
        </p:nvSpPr>
        <p:spPr>
          <a:xfrm>
            <a:off x="682752" y="5852160"/>
            <a:ext cx="1950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등록·영향평가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인간감독·공시 의무</a:t>
            </a:r>
            <a:endParaRPr lang="en-US" sz="1133" dirty="0"/>
          </a:p>
        </p:txBody>
      </p:sp>
      <p:sp>
        <p:nvSpPr>
          <p:cNvPr id="21" name="Shape 19"/>
          <p:cNvSpPr/>
          <p:nvPr/>
        </p:nvSpPr>
        <p:spPr>
          <a:xfrm>
            <a:off x="2828544" y="4840224"/>
            <a:ext cx="2097024" cy="1731264"/>
          </a:xfrm>
          <a:prstGeom prst="rect">
            <a:avLst/>
          </a:prstGeom>
          <a:solidFill>
            <a:srgbClr val="F5F8FD"/>
          </a:solidFill>
          <a:ln w="12700">
            <a:solidFill>
              <a:srgbClr val="F5F8F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Shape 20"/>
          <p:cNvSpPr/>
          <p:nvPr/>
        </p:nvSpPr>
        <p:spPr>
          <a:xfrm>
            <a:off x="2828544" y="4840224"/>
            <a:ext cx="2097024" cy="438912"/>
          </a:xfrm>
          <a:prstGeom prst="rect">
            <a:avLst/>
          </a:prstGeom>
          <a:solidFill>
            <a:srgbClr val="1A4DA8"/>
          </a:solidFill>
          <a:ln w="12700">
            <a:solidFill>
              <a:srgbClr val="1A4DA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21"/>
          <p:cNvSpPr/>
          <p:nvPr/>
        </p:nvSpPr>
        <p:spPr>
          <a:xfrm>
            <a:off x="2828544" y="4840224"/>
            <a:ext cx="209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6.5 – 8.4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01696" y="5315712"/>
            <a:ext cx="195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</a:t>
            </a:r>
            <a:r>
              <a:rPr lang="en-US" sz="1333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</p:txBody>
      </p:sp>
      <p:sp>
        <p:nvSpPr>
          <p:cNvPr id="25" name="Text 23"/>
          <p:cNvSpPr/>
          <p:nvPr/>
        </p:nvSpPr>
        <p:spPr>
          <a:xfrm>
            <a:off x="2901696" y="5852160"/>
            <a:ext cx="1950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의무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체계</a:t>
            </a:r>
            <a:endParaRPr lang="en-US" sz="1133" dirty="0"/>
          </a:p>
        </p:txBody>
      </p:sp>
      <p:sp>
        <p:nvSpPr>
          <p:cNvPr id="26" name="Shape 24"/>
          <p:cNvSpPr/>
          <p:nvPr/>
        </p:nvSpPr>
        <p:spPr>
          <a:xfrm>
            <a:off x="5047488" y="4840224"/>
            <a:ext cx="2097024" cy="1731264"/>
          </a:xfrm>
          <a:prstGeom prst="rect">
            <a:avLst/>
          </a:prstGeom>
          <a:solidFill>
            <a:srgbClr val="F5F8FD"/>
          </a:solidFill>
          <a:ln w="12700">
            <a:solidFill>
              <a:srgbClr val="F5F8F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Shape 25"/>
          <p:cNvSpPr/>
          <p:nvPr/>
        </p:nvSpPr>
        <p:spPr>
          <a:xfrm>
            <a:off x="5047488" y="4840224"/>
            <a:ext cx="2097024" cy="438912"/>
          </a:xfrm>
          <a:prstGeom prst="rect">
            <a:avLst/>
          </a:prstGeom>
          <a:solidFill>
            <a:srgbClr val="3A6DB8"/>
          </a:solidFill>
          <a:ln w="12700">
            <a:solidFill>
              <a:srgbClr val="3A6D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26"/>
          <p:cNvSpPr/>
          <p:nvPr/>
        </p:nvSpPr>
        <p:spPr>
          <a:xfrm>
            <a:off x="5047488" y="4840224"/>
            <a:ext cx="209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 – 6.4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5315712"/>
            <a:ext cx="195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r>
              <a:rPr lang="en-US" sz="1333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33" b="1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</a:t>
            </a:r>
            <a:endParaRPr lang="en-US" sz="1333" b="1" dirty="0">
              <a:solidFill>
                <a:srgbClr val="1C2B4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20640" y="5852160"/>
            <a:ext cx="1950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평가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1회 재검토</a:t>
            </a:r>
            <a:endParaRPr lang="en-US" sz="1133" dirty="0"/>
          </a:p>
        </p:txBody>
      </p:sp>
      <p:sp>
        <p:nvSpPr>
          <p:cNvPr id="31" name="Shape 29"/>
          <p:cNvSpPr/>
          <p:nvPr/>
        </p:nvSpPr>
        <p:spPr>
          <a:xfrm>
            <a:off x="7266432" y="4840224"/>
            <a:ext cx="2097024" cy="1731264"/>
          </a:xfrm>
          <a:prstGeom prst="rect">
            <a:avLst/>
          </a:prstGeom>
          <a:solidFill>
            <a:srgbClr val="F5F8FD"/>
          </a:solidFill>
          <a:ln w="12700">
            <a:solidFill>
              <a:srgbClr val="F5F8F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2" name="Shape 30"/>
          <p:cNvSpPr/>
          <p:nvPr/>
        </p:nvSpPr>
        <p:spPr>
          <a:xfrm>
            <a:off x="7266432" y="4840224"/>
            <a:ext cx="2097024" cy="438912"/>
          </a:xfrm>
          <a:prstGeom prst="rect">
            <a:avLst/>
          </a:prstGeom>
          <a:solidFill>
            <a:srgbClr val="6B8DC0"/>
          </a:solidFill>
          <a:ln w="12700">
            <a:solidFill>
              <a:srgbClr val="6B8DC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31"/>
          <p:cNvSpPr/>
          <p:nvPr/>
        </p:nvSpPr>
        <p:spPr>
          <a:xfrm>
            <a:off x="7266432" y="4840224"/>
            <a:ext cx="209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 – 4.4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39584" y="5315712"/>
            <a:ext cx="195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 err="1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중영향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7339584" y="5852160"/>
            <a:ext cx="1950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등록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수준</a:t>
            </a:r>
            <a:endParaRPr lang="en-US" sz="1133" dirty="0"/>
          </a:p>
        </p:txBody>
      </p:sp>
      <p:sp>
        <p:nvSpPr>
          <p:cNvPr id="36" name="Shape 34"/>
          <p:cNvSpPr/>
          <p:nvPr/>
        </p:nvSpPr>
        <p:spPr>
          <a:xfrm>
            <a:off x="9485376" y="4840224"/>
            <a:ext cx="2097024" cy="1731264"/>
          </a:xfrm>
          <a:prstGeom prst="rect">
            <a:avLst/>
          </a:prstGeom>
          <a:solidFill>
            <a:srgbClr val="F5F8FD"/>
          </a:solidFill>
          <a:ln w="12700">
            <a:solidFill>
              <a:srgbClr val="F5F8FD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7" name="Shape 35"/>
          <p:cNvSpPr/>
          <p:nvPr/>
        </p:nvSpPr>
        <p:spPr>
          <a:xfrm>
            <a:off x="9485376" y="4840224"/>
            <a:ext cx="2097024" cy="438912"/>
          </a:xfrm>
          <a:prstGeom prst="rect">
            <a:avLst/>
          </a:prstGeom>
          <a:solidFill>
            <a:srgbClr val="9DAECE"/>
          </a:solidFill>
          <a:ln w="12700">
            <a:solidFill>
              <a:srgbClr val="9DAEC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8" name="Text 36"/>
          <p:cNvSpPr/>
          <p:nvPr/>
        </p:nvSpPr>
        <p:spPr>
          <a:xfrm>
            <a:off x="9485376" y="4840224"/>
            <a:ext cx="2097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2.4점 미만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58528" y="5315712"/>
            <a:ext cx="195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저영향 / 비해당</a:t>
            </a:r>
            <a:endParaRPr lang="en-US" sz="1333" dirty="0"/>
          </a:p>
        </p:txBody>
      </p:sp>
      <p:sp>
        <p:nvSpPr>
          <p:cNvPr id="40" name="Text 38"/>
          <p:cNvSpPr/>
          <p:nvPr/>
        </p:nvSpPr>
        <p:spPr>
          <a:xfrm>
            <a:off x="9558528" y="5852160"/>
            <a:ext cx="19507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의무 없음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가이드</a:t>
            </a:r>
            <a:endParaRPr lang="en-US" sz="11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아키텍처와 Grounding Check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6720" y="1341120"/>
            <a:ext cx="1463040" cy="1158240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Text 2"/>
          <p:cNvSpPr/>
          <p:nvPr/>
        </p:nvSpPr>
        <p:spPr>
          <a:xfrm>
            <a:off x="426720" y="1341120"/>
            <a:ext cx="1463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분석</a:t>
            </a:r>
            <a:endParaRPr lang="en-US" sz="1133" dirty="0"/>
          </a:p>
        </p:txBody>
      </p:sp>
      <p:sp>
        <p:nvSpPr>
          <p:cNvPr id="5" name="Text 3"/>
          <p:cNvSpPr/>
          <p:nvPr/>
        </p:nvSpPr>
        <p:spPr>
          <a:xfrm>
            <a:off x="1901952" y="1682496"/>
            <a:ext cx="14630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48256" y="1341120"/>
            <a:ext cx="1463040" cy="1158240"/>
          </a:xfrm>
          <a:prstGeom prst="rect">
            <a:avLst/>
          </a:prstGeom>
          <a:solidFill>
            <a:srgbClr val="00449E"/>
          </a:solidFill>
          <a:ln w="12700">
            <a:solidFill>
              <a:srgbClr val="00449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Text 5"/>
          <p:cNvSpPr/>
          <p:nvPr/>
        </p:nvSpPr>
        <p:spPr>
          <a:xfrm>
            <a:off x="2048256" y="1341120"/>
            <a:ext cx="1463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계획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ko-KR" altLang="en-US" sz="1133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ㄴ</a:t>
            </a:r>
            <a:r>
              <a:rPr lang="en-US" sz="1133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1133" dirty="0"/>
          </a:p>
        </p:txBody>
      </p:sp>
      <p:sp>
        <p:nvSpPr>
          <p:cNvPr id="8" name="Text 6"/>
          <p:cNvSpPr/>
          <p:nvPr/>
        </p:nvSpPr>
        <p:spPr>
          <a:xfrm>
            <a:off x="3523488" y="1682496"/>
            <a:ext cx="14630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69792" y="1341120"/>
            <a:ext cx="1463040" cy="1158240"/>
          </a:xfrm>
          <a:prstGeom prst="rect">
            <a:avLst/>
          </a:prstGeom>
          <a:solidFill>
            <a:srgbClr val="0052AB"/>
          </a:solidFill>
          <a:ln w="12700">
            <a:solidFill>
              <a:srgbClr val="0052A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"/>
          <p:cNvSpPr/>
          <p:nvPr/>
        </p:nvSpPr>
        <p:spPr>
          <a:xfrm>
            <a:off x="3669792" y="1341120"/>
            <a:ext cx="1463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법령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133" dirty="0"/>
          </a:p>
        </p:txBody>
      </p:sp>
      <p:sp>
        <p:nvSpPr>
          <p:cNvPr id="11" name="Text 9"/>
          <p:cNvSpPr/>
          <p:nvPr/>
        </p:nvSpPr>
        <p:spPr>
          <a:xfrm>
            <a:off x="5145024" y="1682496"/>
            <a:ext cx="14630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91328" y="1341120"/>
            <a:ext cx="1463040" cy="1158240"/>
          </a:xfrm>
          <a:prstGeom prst="rect">
            <a:avLst/>
          </a:prstGeom>
          <a:solidFill>
            <a:srgbClr val="0060B8"/>
          </a:solidFill>
          <a:ln w="12700">
            <a:solidFill>
              <a:srgbClr val="0060B8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11"/>
          <p:cNvSpPr/>
          <p:nvPr/>
        </p:nvSpPr>
        <p:spPr>
          <a:xfrm>
            <a:off x="5291328" y="1341120"/>
            <a:ext cx="1463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조항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</a:t>
            </a:r>
            <a:endParaRPr lang="en-US" sz="1133" dirty="0"/>
          </a:p>
        </p:txBody>
      </p:sp>
      <p:sp>
        <p:nvSpPr>
          <p:cNvPr id="14" name="Text 12"/>
          <p:cNvSpPr/>
          <p:nvPr/>
        </p:nvSpPr>
        <p:spPr>
          <a:xfrm>
            <a:off x="6766560" y="1682496"/>
            <a:ext cx="14630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12864" y="1341120"/>
            <a:ext cx="1463040" cy="1158240"/>
          </a:xfrm>
          <a:prstGeom prst="rect">
            <a:avLst/>
          </a:prstGeom>
          <a:solidFill>
            <a:srgbClr val="1A70C0"/>
          </a:solidFill>
          <a:ln w="12700">
            <a:solidFill>
              <a:srgbClr val="1A70C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6912864" y="1341120"/>
            <a:ext cx="1463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133" dirty="0"/>
          </a:p>
        </p:txBody>
      </p:sp>
      <p:sp>
        <p:nvSpPr>
          <p:cNvPr id="17" name="Text 15"/>
          <p:cNvSpPr/>
          <p:nvPr/>
        </p:nvSpPr>
        <p:spPr>
          <a:xfrm>
            <a:off x="8388096" y="1682496"/>
            <a:ext cx="14630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34400" y="1341120"/>
            <a:ext cx="1463040" cy="1158240"/>
          </a:xfrm>
          <a:prstGeom prst="rect">
            <a:avLst/>
          </a:prstGeom>
          <a:solidFill>
            <a:srgbClr val="0052AB"/>
          </a:solidFill>
          <a:ln w="12700">
            <a:solidFill>
              <a:srgbClr val="0052A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Text 17"/>
          <p:cNvSpPr/>
          <p:nvPr/>
        </p:nvSpPr>
        <p:spPr>
          <a:xfrm>
            <a:off x="8534400" y="1341120"/>
            <a:ext cx="1463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Claim-Evidence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133" dirty="0"/>
          </a:p>
        </p:txBody>
      </p:sp>
      <p:sp>
        <p:nvSpPr>
          <p:cNvPr id="20" name="Text 18"/>
          <p:cNvSpPr/>
          <p:nvPr/>
        </p:nvSpPr>
        <p:spPr>
          <a:xfrm>
            <a:off x="10009632" y="1682496"/>
            <a:ext cx="146304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55936" y="1341120"/>
            <a:ext cx="1463040" cy="1158240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Text 20"/>
          <p:cNvSpPr/>
          <p:nvPr/>
        </p:nvSpPr>
        <p:spPr>
          <a:xfrm>
            <a:off x="10155936" y="1341120"/>
            <a:ext cx="14630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답변</a:t>
            </a:r>
            <a:endParaRPr lang="en-US" sz="1133" dirty="0"/>
          </a:p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생성</a:t>
            </a:r>
            <a:endParaRPr lang="en-US" sz="1133" dirty="0"/>
          </a:p>
        </p:txBody>
      </p:sp>
      <p:sp>
        <p:nvSpPr>
          <p:cNvPr id="23" name="Shape 21"/>
          <p:cNvSpPr/>
          <p:nvPr/>
        </p:nvSpPr>
        <p:spPr>
          <a:xfrm>
            <a:off x="609600" y="2804160"/>
            <a:ext cx="3511296" cy="201168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r>
              <a:rPr lang="ko-KR" altLang="en-US" sz="2400" dirty="0" err="1"/>
              <a:t>ㄴㄴ</a:t>
            </a:r>
            <a:endParaRPr lang="ko-KR" alt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92480" y="290169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1600" b="1" dirty="0" err="1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16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Retrieval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2480" y="3450336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법령 DB에서 관련 조문을</a:t>
            </a:r>
            <a:endParaRPr lang="en-US" sz="1467" dirty="0"/>
          </a:p>
          <a:p>
            <a:pPr>
              <a:lnSpc>
                <a:spcPct val="14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키워드·의미 기반으로 탐색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4328160" y="2804160"/>
            <a:ext cx="3511296" cy="201168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 25"/>
          <p:cNvSpPr/>
          <p:nvPr/>
        </p:nvSpPr>
        <p:spPr>
          <a:xfrm>
            <a:off x="4511040" y="290169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en-US" sz="1600" b="1" dirty="0" err="1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16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Generation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11040" y="3450336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조문을 컨텍스트로</a:t>
            </a:r>
            <a:endParaRPr lang="en-US" sz="1467" dirty="0"/>
          </a:p>
          <a:p>
            <a:pPr>
              <a:lnSpc>
                <a:spcPct val="14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초안을 생성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8046720" y="2804160"/>
            <a:ext cx="3511296" cy="201168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0" name="Text 28"/>
          <p:cNvSpPr/>
          <p:nvPr/>
        </p:nvSpPr>
        <p:spPr>
          <a:xfrm>
            <a:off x="8229600" y="2901696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359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검증  Verification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0" y="3450336"/>
            <a:ext cx="3145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Claim-Evidence NLI 검사로</a:t>
            </a:r>
            <a:endParaRPr lang="en-US" sz="1467" dirty="0"/>
          </a:p>
          <a:p>
            <a:pPr>
              <a:lnSpc>
                <a:spcPct val="140000"/>
              </a:lnSpc>
            </a:pPr>
            <a:r>
              <a:rPr lang="en-US" sz="1467" dirty="0">
                <a:solidFill>
                  <a:srgbClr val="1C2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문장 차단 · 재검색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609600" y="4998720"/>
            <a:ext cx="10972800" cy="792480"/>
          </a:xfrm>
          <a:prstGeom prst="rect">
            <a:avLst/>
          </a:prstGeom>
          <a:solidFill>
            <a:srgbClr val="003591"/>
          </a:solidFill>
          <a:ln w="12700">
            <a:solidFill>
              <a:srgbClr val="00359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 31"/>
          <p:cNvSpPr/>
          <p:nvPr/>
        </p:nvSpPr>
        <p:spPr>
          <a:xfrm>
            <a:off x="609600" y="49987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생성 · 검증을 단계적으로 분리 — 근거 없는 문장이 최종 답변으로 전달되는 것을 원천 차단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9600" y="5937504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B7B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단계가 독립적으로 작동 → 하나의 오류가 전체 답변을 오염시키지 않는 구조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698</Words>
  <Application>Microsoft Macintosh PowerPoint</Application>
  <PresentationFormat>와이드스크린</PresentationFormat>
  <Paragraphs>180</Paragraphs>
  <Slides>7</Slides>
  <Notes>7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서연 김</dc:creator>
  <cp:lastModifiedBy>서연 김</cp:lastModifiedBy>
  <cp:revision>2</cp:revision>
  <dcterms:created xsi:type="dcterms:W3CDTF">2026-07-21T13:45:55Z</dcterms:created>
  <dcterms:modified xsi:type="dcterms:W3CDTF">2026-07-23T00:13:33Z</dcterms:modified>
</cp:coreProperties>
</file>